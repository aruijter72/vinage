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0" y="-457200"/>
            <a:ext cx="457200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0" b="1" dirty="0">
                <a:solidFill>
                  <a:srgbClr val="7B2D3E">
                    <a:alpha val="3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6400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spc="10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VINAGE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 wijnkelder. Altijd bij u.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2926080" cy="54864"/>
          </a:xfrm>
          <a:prstGeom prst="rect">
            <a:avLst/>
          </a:prstGeom>
          <a:solidFill>
            <a:srgbClr val="9B4355"/>
          </a:solidFill>
          <a:ln w="12700">
            <a:solidFill>
              <a:srgbClr val="9B43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4290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Partnershipvoorstel voor Okhuysen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0" y="4663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vinage.app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Markt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926080" cy="3200400"/>
          </a:xfrm>
          <a:prstGeom prst="rect">
            <a:avLst/>
          </a:prstGeom>
          <a:solidFill>
            <a:srgbClr val="4A1525"/>
          </a:solidFill>
          <a:ln w="12700">
            <a:solidFill>
              <a:srgbClr val="4A15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37160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30M+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wijnliefhebbers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Benelux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566160" y="1051560"/>
            <a:ext cx="2468880" cy="1463040"/>
          </a:xfrm>
          <a:prstGeom prst="rect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566160" y="11430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€2,1 mrd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566160" y="19202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wijnmarkt Benelux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051560"/>
            <a:ext cx="2468880" cy="1463040"/>
          </a:xfrm>
          <a:prstGeom prst="rect">
            <a:avLst/>
          </a:prstGeom>
          <a:solidFill>
            <a:srgbClr val="9B4355"/>
          </a:solidFill>
          <a:ln w="12700">
            <a:solidFill>
              <a:srgbClr val="9B43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1430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217920" y="19202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jaarlijkse groei premium wijn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66160" y="2743200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Groeiende vraag naar digitale wijnbeleving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Premium-segment groeit sneller dan marktgemiddelde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dominante speler in persoonlijk wijnbeheer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Het Probleem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743200" cy="347472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25880" y="1097280"/>
            <a:ext cx="1005840" cy="100584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5880" y="114300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Geheugenproblemen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Wijnliefhebbers onthouden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welke flessen ze hebben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welke al gedronken zijn.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1005840"/>
            <a:ext cx="2743200" cy="347472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97680" y="1097280"/>
            <a:ext cx="1005840" cy="100584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4300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520440" y="22402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Informatiekloof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0440" y="283464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Etiketinfo is moeilijk 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begrijpen zonder expertise.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AI-uitleg ontbreekt volledig.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0" y="1005840"/>
            <a:ext cx="2743200" cy="347472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269480" y="1097280"/>
            <a:ext cx="1005840" cy="100584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143000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492240" y="22402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Verloren smaak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283464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koppeling tussen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wijn in de kelder en het eten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tafel vanavond.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Oplossing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6916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1325880"/>
            <a:ext cx="1005840" cy="100584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53312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91640" y="1078992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&amp;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Identificeer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91640" y="166420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of barcode → AI herkent wijn en vult alle details in.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0" y="1005840"/>
            <a:ext cx="3931920" cy="16916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37760" y="1325880"/>
            <a:ext cx="1005840" cy="100584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53312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🍷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035040" y="1078992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Beheer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Kelder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35040" y="166420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Rekken, planken en kisten. Uw collectie altijd inzichtelijk.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3931920" cy="16916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" y="3246120"/>
            <a:ext cx="1005840" cy="100584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273552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91640" y="2999232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Delen met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Huishouden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91640" y="358444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synchronisatie – twee kelders, één overzicht.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2926080"/>
            <a:ext cx="3931920" cy="16916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937760" y="3246120"/>
            <a:ext cx="1005840" cy="100584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3273552"/>
            <a:ext cx="100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035040" y="2999232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Spijsadvies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35040" y="358444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wijn past bij het diner van vanavond? AI antwoordt.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A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Hoe Het Werkt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stappen van label tot kelder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1371600"/>
            <a:ext cx="1645920" cy="164592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389888"/>
            <a:ext cx="1645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Richt uw camera op het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etiket of de barcode.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86200" y="1371600"/>
            <a:ext cx="1645920" cy="164592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86200" y="1389888"/>
            <a:ext cx="1645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3383280" y="31546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83280" y="365760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analyseert 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extraheeert alle wijndata.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20840" y="1371600"/>
            <a:ext cx="1645920" cy="164592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0840" y="1389888"/>
            <a:ext cx="1645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6217920" y="31546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Kelder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217920" y="365760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fles verschijnt direct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uw digitale kelder.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377440" y="2103120"/>
            <a:ext cx="822960" cy="137160"/>
          </a:xfrm>
          <a:prstGeom prst="rect">
            <a:avLst/>
          </a:prstGeom>
          <a:solidFill>
            <a:srgbClr val="9B4355"/>
          </a:solidFill>
          <a:ln w="12700">
            <a:solidFill>
              <a:srgbClr val="9B43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12080" y="2103120"/>
            <a:ext cx="822960" cy="137160"/>
          </a:xfrm>
          <a:prstGeom prst="rect">
            <a:avLst/>
          </a:prstGeom>
          <a:solidFill>
            <a:srgbClr val="9B4355"/>
          </a:solidFill>
          <a:ln w="12700">
            <a:solidFill>
              <a:srgbClr val="9B4355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AI-kern: Wat Claude Extraheert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743200" cy="3749040"/>
          </a:xfrm>
          <a:prstGeom prst="rect">
            <a:avLst/>
          </a:prstGeom>
          <a:solidFill>
            <a:srgbClr val="4A1525"/>
          </a:solidFill>
          <a:ln w="12700">
            <a:solidFill>
              <a:srgbClr val="4A152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8016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claude-opus-4-6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 AI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4360" y="251460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scan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 lookup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Ontbrekende data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aanvullen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005840"/>
            <a:ext cx="2606040" cy="7772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14300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Wijnaam &amp; producent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80760" y="1005840"/>
            <a:ext cx="2606040" cy="7772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114300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Druivenras(sen)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26060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794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205740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Vintage (jaar)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80760" y="1920240"/>
            <a:ext cx="26060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794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05740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Spijs-pairing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83280" y="2834640"/>
            <a:ext cx="2606040" cy="7772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297180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 &amp; appellation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80760" y="2834640"/>
            <a:ext cx="2606040" cy="7772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297180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Drinkvenster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83280" y="3749040"/>
            <a:ext cx="26060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79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29000" y="388620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Alcoholpercentage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080760" y="3749040"/>
            <a:ext cx="26060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794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88620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Geschatte prijs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Samen Genieten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00400" cy="320040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3840480" y="1005840"/>
            <a:ext cx="457200" cy="45720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0" y="1005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434840" y="987552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Gedeelde kelder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34840" y="135331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Nodig uw partner of huisgenoot uit. Eén kelder, twee beheerders.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0" y="2331720"/>
            <a:ext cx="457200" cy="45720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34840" y="2313432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sync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34840" y="267919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wijziging verschijnt direct op het apparaat van de ander.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840480" y="3657600"/>
            <a:ext cx="457200" cy="45720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3639312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Geen dubbele aankopen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34840" y="400507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Altijd zien wat er al in huis is, ook als u in de winkel staat.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Model &amp; Prijzen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20040" y="960120"/>
            <a:ext cx="1965960" cy="37490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20040" y="1051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Gratis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0040" y="155448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B2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20040" y="23957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788920"/>
            <a:ext cx="1600200" cy="36576"/>
          </a:xfrm>
          <a:prstGeom prst="rect">
            <a:avLst/>
          </a:prstGeom>
          <a:solidFill>
            <a:srgbClr val="C7949E"/>
          </a:solidFill>
          <a:ln w="12700">
            <a:solidFill>
              <a:srgbClr val="C794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90779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flessen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" y="331012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AI-calls/mnd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468880" y="960120"/>
            <a:ext cx="1965960" cy="37490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1051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Liefhebber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68880" y="155448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B2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€2,99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468880" y="23957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/mnd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51760" y="2788920"/>
            <a:ext cx="1600200" cy="36576"/>
          </a:xfrm>
          <a:prstGeom prst="rect">
            <a:avLst/>
          </a:prstGeom>
          <a:solidFill>
            <a:srgbClr val="C7949E"/>
          </a:solidFill>
          <a:ln w="12700">
            <a:solidFill>
              <a:srgbClr val="C794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290779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flessen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68880" y="331012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AI-calls/mnd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17720" y="960120"/>
            <a:ext cx="1965960" cy="3749040"/>
          </a:xfrm>
          <a:prstGeom prst="rect">
            <a:avLst/>
          </a:prstGeom>
          <a:solidFill>
            <a:srgbClr val="4A1525"/>
          </a:solidFill>
          <a:ln w="25400">
            <a:solidFill>
              <a:srgbClr val="7B2D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1051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Verzamelaar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17720" y="155448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€4,99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4617720" y="23957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/mnd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2788920"/>
            <a:ext cx="1600200" cy="36576"/>
          </a:xfrm>
          <a:prstGeom prst="rect">
            <a:avLst/>
          </a:prstGeom>
          <a:solidFill>
            <a:srgbClr val="9B4355"/>
          </a:solidFill>
          <a:ln w="12700">
            <a:solidFill>
              <a:srgbClr val="C79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90779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Onbeperkt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617720" y="331012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Onbeperkt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17720" y="416052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POPULAIR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66560" y="960120"/>
            <a:ext cx="1965960" cy="37490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766560" y="1051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Jaarlijks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766560" y="155448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B2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€47,99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6766560" y="23957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/jaar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949440" y="2788920"/>
            <a:ext cx="1600200" cy="36576"/>
          </a:xfrm>
          <a:prstGeom prst="rect">
            <a:avLst/>
          </a:prstGeom>
          <a:solidFill>
            <a:srgbClr val="C7949E"/>
          </a:solidFill>
          <a:ln w="12700">
            <a:solidFill>
              <a:srgbClr val="C79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66560" y="290779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Onbeperkt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766560" y="331012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Onbeperkt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Technologie &amp; Betrouwbaarheid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02920" cy="50292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6128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103327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PWA / Vanilla JS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139903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app-store vereist. Werkt op elk apparaat.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00600" y="1143000"/>
            <a:ext cx="502920" cy="50292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16128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394960" y="103327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Firebase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94960" y="139903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Firestore, Storage, Functions &amp; Hosting.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502920" cy="50292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48716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3591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AI (Anthropic)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51560" y="272491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claude-opus-4-6 voor vision, Haiku voor tekst.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2468880"/>
            <a:ext cx="502920" cy="50292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248716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94960" y="23591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 Payments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94960" y="272491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Veilige abonnementsbeheer en facturering.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794760"/>
            <a:ext cx="502920" cy="50292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813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6850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Sync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51560" y="405079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live-updates voor gedeelde kelders.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00600" y="3794760"/>
            <a:ext cx="502920" cy="50292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813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94960" y="36850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vinage.app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94960" y="405079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Volledig gedeployed, beta-fase actief.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&amp; 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31920" cy="37490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0515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 — Beta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1600200"/>
            <a:ext cx="3657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Volledig werkende app op vinage.app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Invite-only beta met toegangscodes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kernfuncties live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betalingen actief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label-scan &amp; barcode-lookup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960120"/>
            <a:ext cx="4023360" cy="3749040"/>
          </a:xfrm>
          <a:prstGeom prst="rect">
            <a:avLst/>
          </a:prstGeom>
          <a:solidFill>
            <a:srgbClr val="4A1525"/>
          </a:solidFill>
          <a:ln w="12700">
            <a:solidFill>
              <a:srgbClr val="4A15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0" y="10515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Komende Stappen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754880" y="1645920"/>
            <a:ext cx="320040" cy="32004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66360" y="16459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Publieke lancering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2194560"/>
            <a:ext cx="320040" cy="32004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21945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Wijnregio gidsen &amp; content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20040" cy="32004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66360" y="2743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Aanbevelingen op basis van smaakprofiel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3291840"/>
            <a:ext cx="320040" cy="32004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32918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Partnerschap-integraties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3840480"/>
            <a:ext cx="320040" cy="320040"/>
          </a:xfrm>
          <a:prstGeom prst="ellipse">
            <a:avLst/>
          </a:prstGeom>
          <a:solidFill>
            <a:srgbClr val="7B2D3E"/>
          </a:solidFill>
          <a:ln w="12700">
            <a:solidFill>
              <a:srgbClr val="7B2D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66360" y="38404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&amp; Android wrapper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Partnerschapsmogelijkheden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651760" cy="37490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34440" y="1097280"/>
            <a:ext cx="1097280" cy="1097280"/>
          </a:xfrm>
          <a:prstGeom prst="ellipse">
            <a:avLst/>
          </a:prstGeom>
          <a:solidFill>
            <a:srgbClr val="4A1525"/>
          </a:solidFill>
          <a:ln w="12700">
            <a:solidFill>
              <a:srgbClr val="4A152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4440" y="1115568"/>
            <a:ext cx="1097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🏪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&amp; Distributie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97180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Co-branding bij wijnwinkels en grossiers. Klanten krijgen premium toegang bij aankoop.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960120"/>
            <a:ext cx="2651760" cy="37490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0" y="1097280"/>
            <a:ext cx="1097280" cy="1097280"/>
          </a:xfrm>
          <a:prstGeom prst="ellipse">
            <a:avLst/>
          </a:prstGeom>
          <a:solidFill>
            <a:srgbClr val="4A1525"/>
          </a:solidFill>
          <a:ln w="12700">
            <a:solidFill>
              <a:srgbClr val="4A152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1115568"/>
            <a:ext cx="1097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29000" y="23317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&amp; Marketing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297180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Gezamenlijke campagnes, wijnproeverijen en seizoenscampagnes. Uw merk naast Vinage.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960120"/>
            <a:ext cx="2651760" cy="3749040"/>
          </a:xfrm>
          <a:prstGeom prst="rect">
            <a:avLst/>
          </a:prstGeom>
          <a:solidFill>
            <a:srgbClr val="F5EDEF"/>
          </a:solidFill>
          <a:ln w="12700">
            <a:solidFill>
              <a:srgbClr val="C794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95160" y="1097280"/>
            <a:ext cx="1097280" cy="1097280"/>
          </a:xfrm>
          <a:prstGeom prst="ellipse">
            <a:avLst/>
          </a:prstGeom>
          <a:solidFill>
            <a:srgbClr val="4A1525"/>
          </a:solidFill>
          <a:ln w="12700">
            <a:solidFill>
              <a:srgbClr val="4A152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95160" y="1115568"/>
            <a:ext cx="1097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309360" y="23317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15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White-label / Licentie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97180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Vinage-technologie onder uw eigen merk. Ideaal voor retailers en hospitality.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B2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 we samen de mogelijkheden verkennen.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0" y="-457200"/>
            <a:ext cx="457200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0" b="1" dirty="0">
                <a:solidFill>
                  <a:srgbClr val="7B2D3E">
                    <a:alpha val="3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 we praten.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7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 maken we wijnbeleving slimmer.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2286000" cy="54864"/>
          </a:xfrm>
          <a:prstGeom prst="rect">
            <a:avLst/>
          </a:prstGeom>
          <a:solidFill>
            <a:srgbClr val="9B4355"/>
          </a:solidFill>
          <a:ln w="12700">
            <a:solidFill>
              <a:srgbClr val="9B43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703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94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vinage.app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Partnershipvoorstel voor Okhuysen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Vinage – Zakelijk Partnershipvoorstel</dc:title>
  <dc:subject>PptxGenJS Presentation</dc:subject>
  <dc:creator>Vinage</dc:creator>
  <cp:lastModifiedBy>Vinage</cp:lastModifiedBy>
  <cp:revision>1</cp:revision>
  <dcterms:created xsi:type="dcterms:W3CDTF">2026-05-15T15:50:34Z</dcterms:created>
  <dcterms:modified xsi:type="dcterms:W3CDTF">2026-05-15T15:50:34Z</dcterms:modified>
</cp:coreProperties>
</file>